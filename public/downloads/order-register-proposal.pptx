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1FAE5"/>
                </a:solidFill>
                <a:latin typeface="맑은 고딕"/>
              </a:defRPr>
            </a:pPr>
            <a:r>
              <a:t>달려라 꽃배달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주문 등록 페이지 개선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1FAE5"/>
                </a:solidFill>
                <a:latin typeface="맑은 고딕"/>
              </a:defRPr>
            </a:pPr>
            <a:r>
              <a:t>경쟁사 분석 기반 UI/UX 리디자인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F3D0"/>
                </a:solidFill>
                <a:latin typeface="맑은 고딕"/>
              </a:defRPr>
            </a:pPr>
            <a:r>
              <a:t>2026.03.07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F3D0"/>
                </a:solidFill>
                <a:latin typeface="맑은 고딕"/>
              </a:defRPr>
            </a:pPr>
            <a:r>
              <a:t>비교 대상: 468.co.kr (꽃비 파트너스) / ebestflower.co.kr (베스트플라워)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맑은 고딕"/>
              </a:defRPr>
            </a:pPr>
            <a:r>
              <a:t>1. 현재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맑은 고딕"/>
              </a:defRPr>
            </a:pPr>
            <a:r>
              <a:t>현재 주문 등록 페이지는 단순 텍스트 파싱 스텁으로, 실제 주문 등록 기능이 없습니다.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47472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현재 (달려라 꽃배달)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• 텍스트 파싱 textarea 1개</a:t>
            </a:r>
            <a:br/>
            <a:r>
              <a:t>• 주문 등록 API 미연결</a:t>
            </a:r>
            <a:br/>
            <a:r>
              <a:t>• 필드 입력 폼 없음</a:t>
            </a:r>
            <a:br/>
            <a:r>
              <a:t>• 메시지 붙여넣기만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55448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554480"/>
            <a:ext cx="347472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1965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468.co.kr (꽃비)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• PHP 기반 전통적 테이블 폼</a:t>
            </a:r>
            <a:br/>
            <a:r>
              <a:t>• 팝업 기반 검색/선택</a:t>
            </a:r>
            <a:br/>
            <a:r>
              <a:t>• 모든 필드 한 화면에 나열</a:t>
            </a:r>
            <a:br/>
            <a:r>
              <a:t>• 모바일 미지원</a:t>
            </a:r>
            <a:br/>
            <a:r>
              <a:t>• 최근 발주 불러오기 지원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5448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554480"/>
            <a:ext cx="347472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965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ebestflower.co.kr (베스트)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• PHP 기반 테이블 폼</a:t>
            </a:r>
            <a:br/>
            <a:r>
              <a:t>• 30+ 상품 카테고리</a:t>
            </a:r>
            <a:br/>
            <a:r>
              <a:t>• 옵션 상품 체크박스</a:t>
            </a:r>
            <a:br/>
            <a:r>
              <a:t>• 경조사어/보내는분 추가/삭제</a:t>
            </a:r>
            <a:br/>
            <a:r>
              <a:t>• 카드 메시지 24종 카테고리</a:t>
            </a:r>
            <a:br/>
            <a:r>
              <a:t>• 해피콜/현장사진 요청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맑은 고딕"/>
              </a:defRPr>
            </a:pPr>
            <a:r>
              <a:t>2. 경쟁사 폼 필드 비교 분석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82880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155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구분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097280"/>
            <a:ext cx="438912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0" y="111556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ebestflower (베스트)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097280"/>
            <a:ext cx="438912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11556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우리 구현 계획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18288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81328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맑은 고딕"/>
              </a:defRPr>
            </a:pPr>
            <a:r>
              <a:t>발주/수주 화원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463040"/>
            <a:ext cx="43891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481328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팝업 화원 선택, 자동입력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1463040"/>
            <a:ext cx="43891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1481328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관리자가 직접 등록 (불필요)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1810512"/>
            <a:ext cx="182880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828800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맑은 고딕"/>
              </a:defRPr>
            </a:pPr>
            <a:r>
              <a:t>상품 선택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1810512"/>
            <a:ext cx="438912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1828800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드롭다운 30개 + 상품검색 팝업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1810512"/>
            <a:ext cx="438912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1828800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칩(Chip) 버튼 18종 + 상세명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157984"/>
            <a:ext cx="18288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17627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맑은 고딕"/>
              </a:defRPr>
            </a:pPr>
            <a:r>
              <a:t>금액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0" y="2157984"/>
            <a:ext cx="43891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0" y="2176272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원청액/결제액/배송비 분리 입력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0" y="2157984"/>
            <a:ext cx="43891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2176272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상품가 + 배송비 + 옵션 자동합산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2505456"/>
            <a:ext cx="182880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2523744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맑은 고딕"/>
              </a:defRPr>
            </a:pPr>
            <a:r>
              <a:t>옵션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60320" y="2505456"/>
            <a:ext cx="438912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51760" y="2523744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체크박스 8종 + 개별 금액 입력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2505456"/>
            <a:ext cx="438912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2523744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체크박스 8종 + 개별 금액 입력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2852928"/>
            <a:ext cx="18288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2871216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맑은 고딕"/>
              </a:defRPr>
            </a:pPr>
            <a:r>
              <a:t>주문자/받는분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60320" y="2852928"/>
            <a:ext cx="43891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760" y="2871216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이름 + 전화 + 핸드폰 (각각)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0" y="2852928"/>
            <a:ext cx="43891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0" y="2871216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이름 + 전화 + 핸드폰 (2컬럼)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200400"/>
            <a:ext cx="182880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218688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맑은 고딕"/>
              </a:defRPr>
            </a:pPr>
            <a:r>
              <a:t>배달일시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60320" y="3200400"/>
            <a:ext cx="438912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0" y="3218688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년/월/일 셀렉트 + 시간 드롭다운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49440" y="3200400"/>
            <a:ext cx="438912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0" y="3218688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날짜 피커 + 시간 드롭다운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547872"/>
            <a:ext cx="18288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3566160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맑은 고딕"/>
              </a:defRPr>
            </a:pPr>
            <a:r>
              <a:t>배달주소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560320" y="3547872"/>
            <a:ext cx="43891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51760" y="3566160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주소검색 팝업 + 병원/예식장 검색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49440" y="3547872"/>
            <a:ext cx="43891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40880" y="3566160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Daum 주소 인라인 + 상세주소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3895344"/>
            <a:ext cx="182880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391363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맑은 고딕"/>
              </a:defRPr>
            </a:pPr>
            <a:r>
              <a:t>메시지 유형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560320" y="3895344"/>
            <a:ext cx="438912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51760" y="3913632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카드만/리본만/카드+리본 라디오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49440" y="3895344"/>
            <a:ext cx="438912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40880" y="3913632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동일 (라디오 Pill 버튼)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" y="4242816"/>
            <a:ext cx="18288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4261104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맑은 고딕"/>
              </a:defRPr>
            </a:pPr>
            <a:r>
              <a:t>경조사어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560320" y="4242816"/>
            <a:ext cx="43891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51760" y="4261104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검색팝업 + 추가/삭제 + 복사 버튼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949440" y="4242816"/>
            <a:ext cx="43891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40880" y="4261104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프리셋 버튼 10종 + 직접 입력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4590288"/>
            <a:ext cx="182880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" y="4608576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맑은 고딕"/>
              </a:defRPr>
            </a:pPr>
            <a:r>
              <a:t>카드 메시지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560320" y="4590288"/>
            <a:ext cx="438912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51760" y="4608576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24종 카테고리 + 검색 + textarea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949440" y="4590288"/>
            <a:ext cx="438912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040880" y="4608576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카테고리 선택 + textarea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4937760"/>
            <a:ext cx="18288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2960" y="4956048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맑은 고딕"/>
              </a:defRPr>
            </a:pPr>
            <a:r>
              <a:t>요구사항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560320" y="4937760"/>
            <a:ext cx="43891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51760" y="4956048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검색 + 현장사진 체크 + textarea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49440" y="4937760"/>
            <a:ext cx="43891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40880" y="4956048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체크박스 옵션 + textarea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31520" y="5285231"/>
            <a:ext cx="182880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2960" y="5303519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맑은 고딕"/>
              </a:defRPr>
            </a:pPr>
            <a:r>
              <a:t>해피콜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560320" y="5285231"/>
            <a:ext cx="438912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51760" y="5303519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라디오(요청/안함) + 사진URL 체크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949440" y="5285231"/>
            <a:ext cx="4389120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040880" y="5303519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체크박스 (해피콜/사진/URL)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31520" y="5632704"/>
            <a:ext cx="18288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2960" y="565099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맑은 고딕"/>
              </a:defRPr>
            </a:pPr>
            <a:r>
              <a:t>장례/예식 정보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560320" y="5632704"/>
            <a:ext cx="43891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651760" y="5650992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없음 (주소에 포함)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949440" y="5632704"/>
            <a:ext cx="43891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040880" y="5650992"/>
            <a:ext cx="4206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맑은 고딕"/>
              </a:defRPr>
            </a:pPr>
            <a:r>
              <a:t>조건부 표시 (근조→장례, 축하→예식)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맑은 고딕"/>
              </a:defRPr>
            </a:pPr>
            <a:r>
              <a:t>3. 핵심 개선 포인트 (10가지)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394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12801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1704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카카오톡 메시지 파싱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8132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메시지 붙여넣기로 주문 필드 자동 채움</a:t>
            </a:r>
            <a:br/>
            <a:r>
              <a:t>(기존 기능 발전)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394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37960" y="12801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1704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모던 카드 기반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48132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테이블→카드 섹션 레이아웃</a:t>
            </a:r>
            <a:br/>
            <a:r>
              <a:t>큰 글씨(19px), 명확한 시각 구분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76272"/>
            <a:ext cx="5394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35915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24942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조건부 필드 표시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5603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근조 선택→장례식장/고인/상주 자동표시</a:t>
            </a:r>
            <a:br/>
            <a:r>
              <a:t>축하 선택→예식장/홀 자동표시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176272"/>
            <a:ext cx="5394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37960" y="2359152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24942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Daum 주소 인라인 검색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5603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팝업 대신 인라인 주소 자동완성</a:t>
            </a:r>
            <a:br/>
            <a:r>
              <a:t>(경쟁사 대비 UX 우위)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55263"/>
            <a:ext cx="5394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3438143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328415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실시간 금액 자동 계산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639311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상품가 + 옵션가 + 배송비</a:t>
            </a:r>
            <a:br/>
            <a:r>
              <a:t>총 결제액 실시간 표시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255263"/>
            <a:ext cx="5394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37960" y="3438143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328415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경조사어 프리셋 버튼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639311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자주 쓰는 10종 원클릭 선택</a:t>
            </a:r>
            <a:br/>
            <a:r>
              <a:t>직접 입력도 가능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334256"/>
            <a:ext cx="5394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8680" y="4517136"/>
            <a:ext cx="457200" cy="45720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4074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전화번호 자동 포맷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718304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입력 시 자동 하이픈</a:t>
            </a:r>
            <a:br/>
            <a:r>
              <a:t>010-1234-5678 형식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334256"/>
            <a:ext cx="5394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37960" y="4517136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4074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최근 발주 불러오기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718304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이전 주문 기반 필드 자동 채움</a:t>
            </a:r>
            <a:br/>
            <a:r>
              <a:t>반복 입력 최소화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413248"/>
            <a:ext cx="5394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8680" y="5596128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5486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Zod 실시간 유효성 검사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579729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필수 필드 표시 + 즉시 에러 피드백</a:t>
            </a:r>
            <a:br/>
            <a:r>
              <a:t>(react-hook-form + zod)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5413248"/>
            <a:ext cx="5394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37960" y="5596128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5486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맑은 고딕"/>
              </a:defRPr>
            </a:pPr>
            <a:r>
              <a:t>완전한 모바일 대응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579729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반응형 1컬럼 레이아웃</a:t>
            </a:r>
            <a:br/>
            <a:r>
              <a:t>(경쟁사는 모바일 미지원)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맑은 고딕"/>
              </a:defRPr>
            </a:pPr>
            <a:r>
              <a:t>4. 화면 구조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맑은 고딕"/>
              </a:defRPr>
            </a:pPr>
            <a:r>
              <a:t>7개 섹션 카드 기반, 순차적 입력 흐름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99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1  상품 선택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칩 버튼 18종</a:t>
            </a:r>
            <a:br/>
            <a:r>
              <a:t>상세 상품명 / 수량</a:t>
            </a:r>
            <a:br/>
            <a:r>
              <a:t>상품 사진 URL 또는 업로드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37160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1371600"/>
            <a:ext cx="256032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399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2  주문자 (보내는 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82880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이름</a:t>
            </a:r>
            <a:br/>
            <a:r>
              <a:t>전화번호</a:t>
            </a:r>
            <a:br/>
            <a:r>
              <a:t>핸드폰 (자동 하이픈)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256032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399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3  받는 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82880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이름 *</a:t>
            </a:r>
            <a:br/>
            <a:r>
              <a:t>전화번호 *</a:t>
            </a:r>
            <a:br/>
            <a:r>
              <a:t>핸드폰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37160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371600"/>
            <a:ext cx="25603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399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4  배달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182880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배달일 (Date Picker)</a:t>
            </a:r>
            <a:br/>
            <a:r>
              <a:t>배달 시간 (드롭다운)</a:t>
            </a:r>
            <a:br/>
            <a:r>
              <a:t>주소 검색 + 상세주소</a:t>
            </a:r>
            <a:br/>
            <a:r>
              <a:t>[조건부] 장례/예식 정보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49039"/>
            <a:ext cx="3291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749039"/>
            <a:ext cx="329184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77647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5  리본 / 카드 메시지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206239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메시지 유형 선택</a:t>
            </a:r>
            <a:br/>
            <a:r>
              <a:t>경조사어 프리셋 + 직접입력</a:t>
            </a:r>
            <a:br/>
            <a:r>
              <a:t>리본 좌/우측</a:t>
            </a:r>
            <a:br/>
            <a:r>
              <a:t>카드 메시지 textarea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749039"/>
            <a:ext cx="3291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749039"/>
            <a:ext cx="329184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77647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6  금액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206239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상품가 / 배송비 / 옵션</a:t>
            </a:r>
            <a:br/>
            <a:r>
              <a:t>옵션 체크박스 8종</a:t>
            </a:r>
            <a:br/>
            <a:r>
              <a:t>총 결제액 자동 합산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3749039"/>
            <a:ext cx="3291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3749039"/>
            <a:ext cx="3291840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77647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7  추가 정보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4206239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해피콜/사진 체크박스</a:t>
            </a:r>
            <a:br/>
            <a:r>
              <a:t>요구사항 textarea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맑은 고딕"/>
              </a:defRPr>
            </a:pPr>
            <a:r>
              <a:t>▶ 메시지 파싱 바 (상단 고정) — 카카오톡/SMS 붙여넣기로 모든 섹션 자동 채움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맑은 고딕"/>
              </a:defRPr>
            </a:pPr>
            <a:r>
              <a:t>5. 상품 카테고리 &amp; 옵션 상품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82880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527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축하 화환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234440"/>
            <a:ext cx="1463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0" y="12527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축하 3단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1463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2527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축하 4단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34440"/>
            <a:ext cx="1463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2527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축하 5단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234440"/>
            <a:ext cx="1463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2527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실속축하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828800"/>
            <a:ext cx="1828800" cy="50292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8928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근조 화환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1874520"/>
            <a:ext cx="1463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18928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근조 3단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874520"/>
            <a:ext cx="1463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8928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근조 4단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1874520"/>
            <a:ext cx="1463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8928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근조 5단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1874520"/>
            <a:ext cx="1463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18928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실속근조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468880"/>
            <a:ext cx="1828800" cy="50292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25328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꽃/오브제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2514600"/>
            <a:ext cx="1463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25328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꽃바구니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2514600"/>
            <a:ext cx="1463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25328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꽃다발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2514600"/>
            <a:ext cx="1463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25328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꽃상자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0" y="2514600"/>
            <a:ext cx="1463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25328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오브제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108959"/>
            <a:ext cx="182880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172967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란/식물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0" y="3154679"/>
            <a:ext cx="1463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34640" y="317296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동양란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89120" y="3154679"/>
            <a:ext cx="1463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60" y="317296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서양란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0" y="3154679"/>
            <a:ext cx="1463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317296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관엽식물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749039"/>
            <a:ext cx="1828800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3813047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기타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0" y="3794759"/>
            <a:ext cx="1463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34640" y="381304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쌀화환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89120" y="3794759"/>
            <a:ext cx="1463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0560" y="381304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과일바구니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5040" y="3794759"/>
            <a:ext cx="1463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381304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기타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맑은 고딕"/>
              </a:defRPr>
            </a:pPr>
            <a:r>
              <a:t>옵션 상품 (체크박스 선택 + 개별 금액 입력)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5029200"/>
            <a:ext cx="1188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50566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☐ 케익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03120" y="5029200"/>
            <a:ext cx="1188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94560" y="50566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☐ 샴페인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74720" y="5029200"/>
            <a:ext cx="1188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66160" y="50566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☐ 사탕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846320" y="5029200"/>
            <a:ext cx="1188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37760" y="50566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☐ 초콜렛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5029200"/>
            <a:ext cx="1188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9360" y="50566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☐ 떡케익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89520" y="5029200"/>
            <a:ext cx="1188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0" y="50566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☐ 와인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61120" y="5029200"/>
            <a:ext cx="1188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52560" y="50566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☐ 빼빼로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332720" y="5029200"/>
            <a:ext cx="1188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424160" y="50566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맑은 고딕"/>
              </a:defRPr>
            </a:pPr>
            <a:r>
              <a:t>☐ 기타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맑은 고딕"/>
              </a:defRPr>
            </a:pPr>
            <a:r>
              <a:t>6. 경조사어 프리셋 &amp; 카드 메시지 카테고리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맑은 고딕"/>
              </a:defRPr>
            </a:pPr>
            <a:r>
              <a:t>경조사어 프리셋 (원클릭 선택)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0116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축 결혼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554480"/>
            <a:ext cx="20116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57276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축 개업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554480"/>
            <a:ext cx="20116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57276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축 승진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9" y="1554480"/>
            <a:ext cx="20116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19" y="157276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축 취임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554480"/>
            <a:ext cx="20116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157276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축 당선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011680"/>
            <a:ext cx="20116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02996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축하합니다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2011680"/>
            <a:ext cx="20116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02996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삼가 고인의 명복을 빕니다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2011680"/>
            <a:ext cx="20116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202996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사랑합니다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199" y="2011680"/>
            <a:ext cx="20116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19" y="202996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생일 축하합니다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2011680"/>
            <a:ext cx="20116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202996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쾌유를 빕니다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2468880"/>
            <a:ext cx="20116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48716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축 이사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6080" y="2468880"/>
            <a:ext cx="20116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71800" y="248716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축 출산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0" y="2468880"/>
            <a:ext cx="20116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6360" y="248716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입학을 축하합니다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199" y="2468880"/>
            <a:ext cx="20116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60919" y="248716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졸업을 축하합니다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60" y="2468880"/>
            <a:ext cx="20116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2487168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맑은 고딕"/>
              </a:defRPr>
            </a:pPr>
            <a:r>
              <a:t>어버이날 감사합니다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291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맑은 고딕"/>
              </a:defRPr>
            </a:pPr>
            <a:r>
              <a:t>카드 메시지 카테고리 (ebestflower 24종 기반)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749039"/>
            <a:ext cx="1691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767327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사랑의 메시지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60320" y="3749039"/>
            <a:ext cx="1691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06040" y="3767327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생일축하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89120" y="3749039"/>
            <a:ext cx="1691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3767327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결혼기념일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3749039"/>
            <a:ext cx="1691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3767327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승진/영전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3749039"/>
            <a:ext cx="1691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92440" y="3767327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취임/퇴임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75520" y="3749039"/>
            <a:ext cx="1691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21240" y="3767327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개업/창립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160520"/>
            <a:ext cx="1691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41788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이사축하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560320" y="4160520"/>
            <a:ext cx="1691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06040" y="41788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전시/모임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89120" y="4160520"/>
            <a:ext cx="1691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34840" y="41788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수상/우승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4160520"/>
            <a:ext cx="1691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63640" y="41788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선거당선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46720" y="4160520"/>
            <a:ext cx="1691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92440" y="41788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수연/고희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75520" y="4160520"/>
            <a:ext cx="1691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21240" y="41788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병문안/위로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4572000"/>
            <a:ext cx="1691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" y="459028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조문/애도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560320" y="4572000"/>
            <a:ext cx="1691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06040" y="459028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크리스마스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89120" y="4572000"/>
            <a:ext cx="1691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34840" y="459028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어버이/스승의날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17920" y="4572000"/>
            <a:ext cx="1691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63640" y="459028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연하/명절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046720" y="4572000"/>
            <a:ext cx="1691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92440" y="459028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돌/백일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875520" y="4572000"/>
            <a:ext cx="1691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921240" y="459028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어린이날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" y="4983479"/>
            <a:ext cx="1691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77240" y="5001767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합격/축하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560320" y="4983479"/>
            <a:ext cx="1691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06040" y="5001767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입학/졸업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389120" y="4983479"/>
            <a:ext cx="1691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34840" y="5001767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성년의날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217920" y="4983479"/>
            <a:ext cx="1691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63640" y="5001767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군입/전역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046720" y="4983479"/>
            <a:ext cx="1691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92440" y="5001767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약혼축하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875520" y="4983479"/>
            <a:ext cx="1691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921240" y="5001767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맑은 고딕"/>
              </a:defRPr>
            </a:pPr>
            <a:r>
              <a:t>출산축하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맑은 고딕"/>
              </a:defRPr>
            </a:pPr>
            <a:r>
              <a:t>7. 기술 스택 &amp; 구현 계획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56032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247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프레임워크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Next.js 16 (App Router)</a:t>
            </a:r>
            <a:br/>
            <a:r>
              <a:t>React 19 + TypeScript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09728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66160" y="1097280"/>
            <a:ext cx="256032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1247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554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Tailwind CSS 4</a:t>
            </a:r>
            <a:br/>
            <a:r>
              <a:t>shadcn/ui (카드, 입력, 배지)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09728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097280"/>
            <a:ext cx="256032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1247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폼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554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react-hook-form</a:t>
            </a:r>
            <a:br/>
            <a:r>
              <a:t>zod (유효성 검사 스키마)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09728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35440" y="1097280"/>
            <a:ext cx="256032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11247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상태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1554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TanStack Query v5 (서버)</a:t>
            </a:r>
            <a:br/>
            <a:r>
              <a:t>Zustand (인증)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맑은 고딕"/>
              </a:defRPr>
            </a:pPr>
            <a:r>
              <a:t>구현 단계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00400"/>
            <a:ext cx="1097280" cy="685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2461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Phase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5204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UI 구현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3200400"/>
            <a:ext cx="9144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324612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폼 레이아웃, 칩 버튼, 조건부 필드</a:t>
            </a:r>
            <a:br/>
            <a:r>
              <a:t>금액 자동 계산, 전화번호 포맷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069080"/>
            <a:ext cx="1097280" cy="685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114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Phase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3891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API 연동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11680" y="4069080"/>
            <a:ext cx="9144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4560" y="411480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POST /admin/orders 생성 API 연동</a:t>
            </a:r>
            <a:br/>
            <a:r>
              <a:t>주소 검색 (Daum API) 연동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937760"/>
            <a:ext cx="1097280" cy="685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9834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Phase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257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고급 기능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11680" y="4937760"/>
            <a:ext cx="9144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94560" y="498348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메시지 파싱 엔진</a:t>
            </a:r>
            <a:br/>
            <a:r>
              <a:t>최근 발주 불러오기</a:t>
            </a:r>
            <a:br/>
            <a:r>
              <a:t>경조사어/카드 메시지 검색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806440"/>
            <a:ext cx="1097280" cy="6858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8521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Phase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264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배포 &amp; QA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5806440"/>
            <a:ext cx="9144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94560" y="58521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빌드/배포 (dev + prod)</a:t>
            </a:r>
            <a:br/>
            <a:r>
              <a:t>실사용 테스트 &amp; 피드백 반영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1FAE5"/>
                </a:solidFill>
                <a:latin typeface="맑은 고딕"/>
              </a:defRPr>
            </a:pPr>
            <a:r>
              <a:t>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경쟁사 대비 차별화 포인트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✓  카카오톡 메시지 파싱으로 자동 필드 채움 (경쟁사에 없는 고유 기능)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✓  모던 카드 기반 UI — 테이블 레이아웃 탈피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✓  조건부 필드 (근조/축하)로 불필요한 입력 제거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✓  Daum 주소 인라인 검색 (팝업 없이)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✓  실시간 금액 계산 + zod 유효성 검사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✓  완전한 모바일 반응형 (경쟁사 모바일 미지원)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F3D0"/>
                </a:solidFill>
                <a:latin typeface="맑은 고딕"/>
              </a:defRPr>
            </a:pPr>
            <a:r>
              <a:t>달려라 꽃배달 — 더 빠르고 쉬운 주문 등록 경험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